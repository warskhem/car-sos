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4" r:id="rId8"/>
    <p:sldId id="266" r:id="rId9"/>
    <p:sldId id="268" r:id="rId10"/>
    <p:sldId id="26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71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E15801-AEDA-4B97-818B-839D988F0FB6}" type="datetimeFigureOut">
              <a:rPr lang="en-IN" smtClean="0"/>
              <a:t>29-08-2026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091264-8450-446B-A120-205026C762B8}" type="slidenum">
              <a:rPr lang="en-IN" smtClean="0"/>
              <a:t>‹#›</a:t>
            </a:fld>
            <a:endParaRPr lang="en-IN"/>
          </a:p>
        </p:txBody>
      </p:sp>
    </p:spTree>
    <p:extLst>
      <p:ext uri="{BB962C8B-B14F-4D97-AF65-F5344CB8AC3E}">
        <p14:creationId xmlns:p14="http://schemas.microsoft.com/office/powerpoint/2010/main" val="2252880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"Good morning/afternoon everyone. Today I'll present Car SOS — a project that lets anyone, in the critical first minutes after an accident or breakdown, instantly notify the driver's loved ones with their exact location. No special hardware, no mobile app installation — just a printed QR code and any smartphone camera."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"Every year, millions of accidents happen. The people most likely to find the victim first are bystanders or other drivers — not emergency services. In those critical minutes, a bystander usually has no way to reach the victim's family. Car SOS solves exactly this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"The beauty is simplicity. The rescuer just points their camera at the sticker. The system identifies the vehicle, grabs the rescue location, and does the rest automatically — a voice call plus an SMS with a live map link to the primary contact."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"Walk through the flow: the admin produces the codes, the owner claims and registers their vehicle and up to three emergency contacts, and the sticker goes on the glass. When an accident happens, scanning the sticker automatically calls the primary contact and sends the location. There's also a big manual SOS button that alerts all three contacts."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"Highlighting the standout differentiators: zero-install scanning, automatic GPS, and privacy. Every bystander becomes a potential first responder, while the driver's personal information stays hidden."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"Group the services into three buckets: preparation (QR codes, registration, stickers), response (voice calls, SMS with location), and management (history, admin analytics)."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"The biggest wins are cost, accessibility, and privacy. Any phone can trigger an alert, the owner's data stays hidden, and the system is inexpensive to scale to an entire fleet or community."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"Focus on real-world impact: faster help, empowered bystanders, protection for the most vulnerable, and a low-cost model that community programs can actually afford to run at scale."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"To wrap up: Car SOS is a practical, low-cost, privacy-respecting system that turns any smartphone into a lifesaving tool, helping the most vulnerable drivers get help faster."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"Open the floor for questions. Offer a live demo. Mention the project is open-source and welcomes contributions."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Title</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1</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Car SOS</a:t>
            </a:r>
          </a:p>
        </p:txBody>
      </p:sp>
      <p:sp>
        <p:nvSpPr>
          <p:cNvPr id="6" name="TextBox 5"/>
          <p:cNvSpPr txBox="1"/>
          <p:nvPr/>
        </p:nvSpPr>
        <p:spPr>
          <a:xfrm>
            <a:off x="502920" y="1554480"/>
            <a:ext cx="11155680" cy="1371600"/>
          </a:xfrm>
          <a:prstGeom prst="rect">
            <a:avLst/>
          </a:prstGeom>
          <a:noFill/>
        </p:spPr>
        <p:txBody>
          <a:bodyPr wrap="square">
            <a:spAutoFit/>
          </a:bodyPr>
          <a:lstStyle/>
          <a:p>
            <a:pPr algn="l"/>
            <a:r>
              <a:rPr sz="1800" b="1">
                <a:solidFill>
                  <a:srgbClr val="1A1A1A"/>
                </a:solidFill>
                <a:latin typeface="Calibri"/>
              </a:rPr>
              <a:t>Emergency Response System for Vehicles</a:t>
            </a:r>
          </a:p>
        </p:txBody>
      </p:sp>
      <p:sp>
        <p:nvSpPr>
          <p:cNvPr id="7" name="TextBox 6"/>
          <p:cNvSpPr txBox="1"/>
          <p:nvPr/>
        </p:nvSpPr>
        <p:spPr>
          <a:xfrm>
            <a:off x="502920" y="1938528"/>
            <a:ext cx="11155680" cy="1371600"/>
          </a:xfrm>
          <a:prstGeom prst="rect">
            <a:avLst/>
          </a:prstGeom>
          <a:noFill/>
        </p:spPr>
        <p:txBody>
          <a:bodyPr wrap="square">
            <a:spAutoFit/>
          </a:bodyPr>
          <a:lstStyle/>
          <a:p>
            <a:pPr algn="l"/>
            <a:r>
              <a:rPr sz="1600" b="0">
                <a:solidFill>
                  <a:srgbClr val="1A1A1A"/>
                </a:solidFill>
                <a:latin typeface="Calibri"/>
              </a:rPr>
              <a:t>**Turning every vehicle sticker into a lifesaving tool**</a:t>
            </a:r>
          </a:p>
        </p:txBody>
      </p:sp>
      <p:sp>
        <p:nvSpPr>
          <p:cNvPr id="8" name="TextBox 7"/>
          <p:cNvSpPr txBox="1"/>
          <p:nvPr/>
        </p:nvSpPr>
        <p:spPr>
          <a:xfrm>
            <a:off x="502920" y="2395728"/>
            <a:ext cx="11155680" cy="1371600"/>
          </a:xfrm>
          <a:prstGeom prst="rect">
            <a:avLst/>
          </a:prstGeom>
          <a:noFill/>
        </p:spPr>
        <p:txBody>
          <a:bodyPr wrap="square">
            <a:spAutoFit/>
          </a:bodyPr>
          <a:lstStyle/>
          <a:p>
            <a:pPr algn="l"/>
            <a:r>
              <a:rPr sz="1600" b="0">
                <a:solidFill>
                  <a:srgbClr val="1A1A1A"/>
                </a:solidFill>
                <a:latin typeface="Calibri"/>
              </a:rPr>
              <a:t>*Presenter Name | Date | Course/Event*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The Problem</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2</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The Problem</a:t>
            </a:r>
          </a:p>
        </p:txBody>
      </p:sp>
      <p:sp>
        <p:nvSpPr>
          <p:cNvPr id="6" name="TextBox 5"/>
          <p:cNvSpPr txBox="1"/>
          <p:nvPr/>
        </p:nvSpPr>
        <p:spPr>
          <a:xfrm>
            <a:off x="502920" y="1554480"/>
            <a:ext cx="11155680" cy="1371600"/>
          </a:xfrm>
          <a:prstGeom prst="rect">
            <a:avLst/>
          </a:prstGeom>
          <a:noFill/>
        </p:spPr>
        <p:txBody>
          <a:bodyPr wrap="square">
            <a:spAutoFit/>
          </a:bodyPr>
          <a:lstStyle/>
          <a:p>
            <a:pPr algn="l"/>
            <a:r>
              <a:rPr sz="1800" b="1">
                <a:solidFill>
                  <a:srgbClr val="1A1A1A"/>
                </a:solidFill>
                <a:latin typeface="Calibri"/>
              </a:rPr>
              <a:t>Why do drivers need help they can't always ask for?</a:t>
            </a:r>
          </a:p>
        </p:txBody>
      </p:sp>
      <p:sp>
        <p:nvSpPr>
          <p:cNvPr id="7" name="TextBox 6"/>
          <p:cNvSpPr txBox="1"/>
          <p:nvPr/>
        </p:nvSpPr>
        <p:spPr>
          <a:xfrm>
            <a:off x="502920" y="1938528"/>
            <a:ext cx="11155680" cy="1371600"/>
          </a:xfrm>
          <a:prstGeom prst="rect">
            <a:avLst/>
          </a:prstGeom>
          <a:noFill/>
        </p:spPr>
        <p:txBody>
          <a:bodyPr wrap="square">
            <a:spAutoFit/>
          </a:bodyPr>
          <a:lstStyle/>
          <a:p>
            <a:pPr algn="l"/>
            <a:r>
              <a:rPr sz="1600" b="0">
                <a:solidFill>
                  <a:srgbClr val="1A1A1A"/>
                </a:solidFill>
                <a:latin typeface="Calibri"/>
              </a:rPr>
              <a:t>- 🕐 **The "Golden Hour"** — survival rates drop sharply when help is delayed</a:t>
            </a:r>
          </a:p>
        </p:txBody>
      </p:sp>
      <p:sp>
        <p:nvSpPr>
          <p:cNvPr id="8" name="TextBox 7"/>
          <p:cNvSpPr txBox="1"/>
          <p:nvPr/>
        </p:nvSpPr>
        <p:spPr>
          <a:xfrm>
            <a:off x="502920" y="2578608"/>
            <a:ext cx="11155680" cy="1371600"/>
          </a:xfrm>
          <a:prstGeom prst="rect">
            <a:avLst/>
          </a:prstGeom>
          <a:noFill/>
        </p:spPr>
        <p:txBody>
          <a:bodyPr wrap="square">
            <a:spAutoFit/>
          </a:bodyPr>
          <a:lstStyle/>
          <a:p>
            <a:pPr algn="l"/>
            <a:r>
              <a:rPr sz="1600" b="0">
                <a:solidFill>
                  <a:srgbClr val="1A1A1A"/>
                </a:solidFill>
                <a:latin typeface="Calibri"/>
              </a:rPr>
              <a:t>- 🚗 **Stranded &amp; vulnerable drivers** — the elderly, solo travellers, breakdowns on remote roads</a:t>
            </a:r>
          </a:p>
        </p:txBody>
      </p:sp>
      <p:sp>
        <p:nvSpPr>
          <p:cNvPr id="9" name="TextBox 8"/>
          <p:cNvSpPr txBox="1"/>
          <p:nvPr/>
        </p:nvSpPr>
        <p:spPr>
          <a:xfrm>
            <a:off x="502920" y="3218688"/>
            <a:ext cx="11155680" cy="1371600"/>
          </a:xfrm>
          <a:prstGeom prst="rect">
            <a:avLst/>
          </a:prstGeom>
          <a:noFill/>
        </p:spPr>
        <p:txBody>
          <a:bodyPr wrap="square">
            <a:spAutoFit/>
          </a:bodyPr>
          <a:lstStyle/>
          <a:p>
            <a:pPr algn="l"/>
            <a:r>
              <a:rPr sz="1600" b="0">
                <a:solidFill>
                  <a:srgbClr val="1A1A1A"/>
                </a:solidFill>
                <a:latin typeface="Calibri"/>
              </a:rPr>
              <a:t>- 🙋 **Bystanders can't help** — witnesses want to assist but don't know *who* to contact</a:t>
            </a:r>
          </a:p>
        </p:txBody>
      </p:sp>
      <p:sp>
        <p:nvSpPr>
          <p:cNvPr id="10" name="TextBox 9"/>
          <p:cNvSpPr txBox="1"/>
          <p:nvPr/>
        </p:nvSpPr>
        <p:spPr>
          <a:xfrm>
            <a:off x="502920" y="3858768"/>
            <a:ext cx="11155680" cy="1371600"/>
          </a:xfrm>
          <a:prstGeom prst="rect">
            <a:avLst/>
          </a:prstGeom>
          <a:noFill/>
        </p:spPr>
        <p:txBody>
          <a:bodyPr wrap="square">
            <a:spAutoFit/>
          </a:bodyPr>
          <a:lstStyle/>
          <a:p>
            <a:pPr algn="l"/>
            <a:r>
              <a:rPr sz="1600" b="0">
                <a:solidFill>
                  <a:srgbClr val="1A1A1A"/>
                </a:solidFill>
                <a:latin typeface="Calibri"/>
              </a:rPr>
              <a:t>- 🔒 **Privacy dilemma** — exposing full contact info to strangers is risky</a:t>
            </a:r>
          </a:p>
        </p:txBody>
      </p:sp>
      <p:sp>
        <p:nvSpPr>
          <p:cNvPr id="11" name="TextBox 10"/>
          <p:cNvSpPr txBox="1"/>
          <p:nvPr/>
        </p:nvSpPr>
        <p:spPr>
          <a:xfrm>
            <a:off x="502920" y="4498848"/>
            <a:ext cx="11155680" cy="1371600"/>
          </a:xfrm>
          <a:prstGeom prst="rect">
            <a:avLst/>
          </a:prstGeom>
          <a:noFill/>
        </p:spPr>
        <p:txBody>
          <a:bodyPr wrap="square">
            <a:spAutoFit/>
          </a:bodyPr>
          <a:lstStyle/>
          <a:p>
            <a:pPr algn="l"/>
            <a:r>
              <a:rPr sz="1600" b="0">
                <a:solidFill>
                  <a:srgbClr val="1A1A1A"/>
                </a:solidFill>
                <a:latin typeface="Calibri"/>
              </a:rPr>
              <a:t>- 📱 **App fatigue** — victims' emergency apps are often not installed or not set up</a:t>
            </a:r>
          </a:p>
        </p:txBody>
      </p:sp>
      <p:sp>
        <p:nvSpPr>
          <p:cNvPr id="12" name="TextBox 11"/>
          <p:cNvSpPr txBox="1"/>
          <p:nvPr/>
        </p:nvSpPr>
        <p:spPr>
          <a:xfrm>
            <a:off x="502920" y="5138928"/>
            <a:ext cx="11155680" cy="1371600"/>
          </a:xfrm>
          <a:prstGeom prst="rect">
            <a:avLst/>
          </a:prstGeom>
          <a:noFill/>
        </p:spPr>
        <p:txBody>
          <a:bodyPr wrap="square">
            <a:spAutoFit/>
          </a:bodyPr>
          <a:lstStyle/>
          <a:p>
            <a:pPr algn="l"/>
            <a:r>
              <a:rPr sz="1600" b="0">
                <a:solidFill>
                  <a:srgbClr val="1A1A1A"/>
                </a:solidFill>
                <a:latin typeface="Calibri"/>
              </a:rPr>
              <a:t>- 💸 **Cost barriers** — GPS trackers, roadside subscriptions are expensive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Our Solution</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3</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The Solution: Car SOS</a:t>
            </a:r>
          </a:p>
        </p:txBody>
      </p:sp>
      <p:sp>
        <p:nvSpPr>
          <p:cNvPr id="6" name="TextBox 5"/>
          <p:cNvSpPr txBox="1"/>
          <p:nvPr/>
        </p:nvSpPr>
        <p:spPr>
          <a:xfrm>
            <a:off x="502920" y="1554480"/>
            <a:ext cx="11155680" cy="1371600"/>
          </a:xfrm>
          <a:prstGeom prst="rect">
            <a:avLst/>
          </a:prstGeom>
          <a:noFill/>
        </p:spPr>
        <p:txBody>
          <a:bodyPr wrap="square">
            <a:spAutoFit/>
          </a:bodyPr>
          <a:lstStyle/>
          <a:p>
            <a:pPr algn="l"/>
            <a:r>
              <a:rPr sz="1600" b="0">
                <a:solidFill>
                  <a:srgbClr val="1A1A1A"/>
                </a:solidFill>
                <a:latin typeface="Calibri"/>
              </a:rPr>
              <a:t>**A printable QR-code sticker + a smart web platform.**</a:t>
            </a:r>
          </a:p>
        </p:txBody>
      </p:sp>
      <p:sp>
        <p:nvSpPr>
          <p:cNvPr id="7" name="TextBox 6"/>
          <p:cNvSpPr txBox="1"/>
          <p:nvPr/>
        </p:nvSpPr>
        <p:spPr>
          <a:xfrm>
            <a:off x="502920" y="2011680"/>
            <a:ext cx="11155680" cy="1371600"/>
          </a:xfrm>
          <a:prstGeom prst="rect">
            <a:avLst/>
          </a:prstGeom>
          <a:noFill/>
        </p:spPr>
        <p:txBody>
          <a:bodyPr wrap="square">
            <a:spAutoFit/>
          </a:bodyPr>
          <a:lstStyle/>
          <a:p>
            <a:pPr algn="l"/>
            <a:r>
              <a:rPr sz="1600" b="0">
                <a:solidFill>
                  <a:srgbClr val="1A1A1A"/>
                </a:solidFill>
                <a:latin typeface="Calibri"/>
              </a:rPr>
              <a:t>- 📇 Each vehicle gets a **unique QR code sticker** (placed on the windshield)</a:t>
            </a:r>
          </a:p>
        </p:txBody>
      </p:sp>
      <p:sp>
        <p:nvSpPr>
          <p:cNvPr id="8" name="TextBox 7"/>
          <p:cNvSpPr txBox="1"/>
          <p:nvPr/>
        </p:nvSpPr>
        <p:spPr>
          <a:xfrm>
            <a:off x="502920" y="2651760"/>
            <a:ext cx="11155680" cy="1371600"/>
          </a:xfrm>
          <a:prstGeom prst="rect">
            <a:avLst/>
          </a:prstGeom>
          <a:noFill/>
        </p:spPr>
        <p:txBody>
          <a:bodyPr wrap="square">
            <a:spAutoFit/>
          </a:bodyPr>
          <a:lstStyle/>
          <a:p>
            <a:pPr algn="l"/>
            <a:r>
              <a:rPr sz="1600" b="0">
                <a:solidFill>
                  <a:srgbClr val="1A1A1A"/>
                </a:solidFill>
                <a:latin typeface="Calibri"/>
              </a:rPr>
              <a:t>- 📱 Any phone scans it — **no app required**</a:t>
            </a:r>
          </a:p>
        </p:txBody>
      </p:sp>
      <p:sp>
        <p:nvSpPr>
          <p:cNvPr id="9" name="TextBox 8"/>
          <p:cNvSpPr txBox="1"/>
          <p:nvPr/>
        </p:nvSpPr>
        <p:spPr>
          <a:xfrm>
            <a:off x="502920" y="3108960"/>
            <a:ext cx="11155680" cy="1371600"/>
          </a:xfrm>
          <a:prstGeom prst="rect">
            <a:avLst/>
          </a:prstGeom>
          <a:noFill/>
        </p:spPr>
        <p:txBody>
          <a:bodyPr wrap="square">
            <a:spAutoFit/>
          </a:bodyPr>
          <a:lstStyle/>
          <a:p>
            <a:pPr algn="l"/>
            <a:r>
              <a:rPr sz="1600" b="0">
                <a:solidFill>
                  <a:srgbClr val="1A1A1A"/>
                </a:solidFill>
                <a:latin typeface="Calibri"/>
              </a:rPr>
              <a:t>- 📍 **Auto-captures the rescuer's GPS location** (they're at the scene)</a:t>
            </a:r>
          </a:p>
        </p:txBody>
      </p:sp>
      <p:sp>
        <p:nvSpPr>
          <p:cNvPr id="10" name="TextBox 9"/>
          <p:cNvSpPr txBox="1"/>
          <p:nvPr/>
        </p:nvSpPr>
        <p:spPr>
          <a:xfrm>
            <a:off x="502920" y="3749040"/>
            <a:ext cx="11155680" cy="1371600"/>
          </a:xfrm>
          <a:prstGeom prst="rect">
            <a:avLst/>
          </a:prstGeom>
          <a:noFill/>
        </p:spPr>
        <p:txBody>
          <a:bodyPr wrap="square">
            <a:spAutoFit/>
          </a:bodyPr>
          <a:lstStyle/>
          <a:p>
            <a:pPr algn="l"/>
            <a:r>
              <a:rPr sz="1600" b="0">
                <a:solidFill>
                  <a:srgbClr val="1A1A1A"/>
                </a:solidFill>
                <a:latin typeface="Calibri"/>
              </a:rPr>
              <a:t>- ☎️ **Instantly calls the primary emergency contact** with a spoken alert</a:t>
            </a:r>
          </a:p>
        </p:txBody>
      </p:sp>
      <p:sp>
        <p:nvSpPr>
          <p:cNvPr id="11" name="TextBox 10"/>
          <p:cNvSpPr txBox="1"/>
          <p:nvPr/>
        </p:nvSpPr>
        <p:spPr>
          <a:xfrm>
            <a:off x="502920" y="4389120"/>
            <a:ext cx="11155680" cy="338554"/>
          </a:xfrm>
          <a:prstGeom prst="rect">
            <a:avLst/>
          </a:prstGeom>
          <a:noFill/>
        </p:spPr>
        <p:txBody>
          <a:bodyPr wrap="square">
            <a:spAutoFit/>
          </a:bodyPr>
          <a:lstStyle/>
          <a:p>
            <a:pPr algn="l"/>
            <a:r>
              <a:rPr sz="1600" b="0" dirty="0">
                <a:solidFill>
                  <a:srgbClr val="1A1A1A"/>
                </a:solidFill>
                <a:latin typeface="Calibri"/>
              </a:rPr>
              <a:t>- 📨 **Sends an </a:t>
            </a:r>
            <a:r>
              <a:rPr sz="1600" b="0" dirty="0" smtClean="0">
                <a:solidFill>
                  <a:srgbClr val="1A1A1A"/>
                </a:solidFill>
                <a:latin typeface="Calibri"/>
              </a:rPr>
              <a:t>SMS</a:t>
            </a:r>
            <a:r>
              <a:rPr lang="en-US" sz="1600" b="0" dirty="0" smtClean="0">
                <a:solidFill>
                  <a:srgbClr val="1A1A1A"/>
                </a:solidFill>
                <a:latin typeface="Calibri"/>
              </a:rPr>
              <a:t>/</a:t>
            </a:r>
            <a:r>
              <a:rPr lang="en-US" sz="1600" b="0" dirty="0" err="1" smtClean="0">
                <a:solidFill>
                  <a:srgbClr val="1A1A1A"/>
                </a:solidFill>
                <a:latin typeface="Calibri"/>
              </a:rPr>
              <a:t>whatapps</a:t>
            </a:r>
            <a:r>
              <a:rPr sz="1600" b="0" dirty="0" smtClean="0">
                <a:solidFill>
                  <a:srgbClr val="1A1A1A"/>
                </a:solidFill>
                <a:latin typeface="Calibri"/>
              </a:rPr>
              <a:t>** </a:t>
            </a:r>
            <a:r>
              <a:rPr sz="1600" b="0" dirty="0">
                <a:solidFill>
                  <a:srgbClr val="1A1A1A"/>
                </a:solidFill>
                <a:latin typeface="Calibri"/>
              </a:rPr>
              <a:t>with a Google Maps location link</a:t>
            </a:r>
          </a:p>
        </p:txBody>
      </p:sp>
      <p:sp>
        <p:nvSpPr>
          <p:cNvPr id="12" name="TextBox 11"/>
          <p:cNvSpPr txBox="1"/>
          <p:nvPr/>
        </p:nvSpPr>
        <p:spPr>
          <a:xfrm>
            <a:off x="502920" y="4846320"/>
            <a:ext cx="11155680" cy="1371600"/>
          </a:xfrm>
          <a:prstGeom prst="rect">
            <a:avLst/>
          </a:prstGeom>
          <a:noFill/>
        </p:spPr>
        <p:txBody>
          <a:bodyPr wrap="square">
            <a:spAutoFit/>
          </a:bodyPr>
          <a:lstStyle/>
          <a:p>
            <a:pPr algn="l"/>
            <a:r>
              <a:rPr sz="1600" b="0">
                <a:solidFill>
                  <a:srgbClr val="1A1A1A"/>
                </a:solidFill>
                <a:latin typeface="Calibri"/>
              </a:rPr>
              <a:t>- 🗂️ **Logs every SOS event** for the owner and administrator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How It Works (Flow)</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4</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How It Works</a:t>
            </a:r>
          </a:p>
        </p:txBody>
      </p:sp>
      <p:sp>
        <p:nvSpPr>
          <p:cNvPr id="6" name="TextBox 5"/>
          <p:cNvSpPr txBox="1"/>
          <p:nvPr/>
        </p:nvSpPr>
        <p:spPr>
          <a:xfrm>
            <a:off x="548640" y="1051560"/>
            <a:ext cx="11155680" cy="4154984"/>
          </a:xfrm>
          <a:prstGeom prst="rect">
            <a:avLst/>
          </a:prstGeom>
          <a:noFill/>
        </p:spPr>
        <p:txBody>
          <a:bodyPr wrap="square">
            <a:spAutoFit/>
          </a:bodyPr>
          <a:lstStyle/>
          <a:p>
            <a:pPr algn="l"/>
            <a:endParaRPr lang="en-US" sz="1200" b="0" dirty="0" smtClean="0">
              <a:solidFill>
                <a:srgbClr val="1A1A1A"/>
              </a:solidFill>
              <a:latin typeface="Calibri"/>
            </a:endParaRPr>
          </a:p>
          <a:p>
            <a:pPr algn="l"/>
            <a:endParaRPr lang="en-US" sz="1200" dirty="0">
              <a:solidFill>
                <a:srgbClr val="1A1A1A"/>
              </a:solidFill>
              <a:latin typeface="Calibri"/>
            </a:endParaRPr>
          </a:p>
          <a:p>
            <a:pPr algn="l"/>
            <a:endParaRPr lang="en-US" sz="1200" b="0" dirty="0" smtClean="0">
              <a:solidFill>
                <a:srgbClr val="1A1A1A"/>
              </a:solidFill>
              <a:latin typeface="Calibri"/>
            </a:endParaRPr>
          </a:p>
          <a:p>
            <a:pPr algn="l"/>
            <a:r>
              <a:rPr sz="1200" b="0" dirty="0" smtClean="0">
                <a:solidFill>
                  <a:srgbClr val="1A1A1A"/>
                </a:solidFill>
                <a:latin typeface="Calibri"/>
              </a:rPr>
              <a:t>[ </a:t>
            </a:r>
            <a:r>
              <a:rPr sz="1200" b="0" dirty="0">
                <a:solidFill>
                  <a:srgbClr val="1A1A1A"/>
                </a:solidFill>
                <a:latin typeface="Calibri"/>
              </a:rPr>
              <a:t>Office ]                                    [ Field </a:t>
            </a:r>
            <a:r>
              <a:rPr sz="1200" b="0" dirty="0" smtClean="0">
                <a:solidFill>
                  <a:srgbClr val="1A1A1A"/>
                </a:solidFill>
                <a:latin typeface="Calibri"/>
              </a:rPr>
              <a:t>]</a:t>
            </a:r>
            <a:endParaRPr lang="en-US" sz="1200" b="0" dirty="0" smtClean="0">
              <a:solidFill>
                <a:srgbClr val="1A1A1A"/>
              </a:solidFill>
              <a:latin typeface="Calibri"/>
            </a:endParaRPr>
          </a:p>
          <a:p>
            <a:pPr algn="l"/>
            <a:endParaRPr lang="en-US" sz="1200" dirty="0">
              <a:solidFill>
                <a:srgbClr val="1A1A1A"/>
              </a:solidFill>
              <a:latin typeface="Calibri"/>
            </a:endParaRPr>
          </a:p>
          <a:p>
            <a:pPr algn="l"/>
            <a:endParaRPr sz="1200" b="0" dirty="0">
              <a:solidFill>
                <a:srgbClr val="1A1A1A"/>
              </a:solidFill>
              <a:latin typeface="Calibri"/>
            </a:endParaRPr>
          </a:p>
          <a:p>
            <a:pPr algn="l"/>
            <a:r>
              <a:rPr sz="1200" b="0" dirty="0">
                <a:solidFill>
                  <a:srgbClr val="1A1A1A"/>
                </a:solidFill>
                <a:latin typeface="Calibri"/>
              </a:rPr>
              <a:t>──────────                                    ─────────</a:t>
            </a:r>
          </a:p>
          <a:p>
            <a:pPr algn="l"/>
            <a:r>
              <a:rPr sz="1200" b="0" dirty="0">
                <a:solidFill>
                  <a:srgbClr val="1A1A1A"/>
                </a:solidFill>
                <a:latin typeface="Calibri"/>
              </a:rPr>
              <a:t> Admin generates QR codes + stickers</a:t>
            </a:r>
          </a:p>
          <a:p>
            <a:pPr algn="l"/>
            <a:r>
              <a:rPr sz="1200" b="0" dirty="0">
                <a:solidFill>
                  <a:srgbClr val="1A1A1A"/>
                </a:solidFill>
                <a:latin typeface="Calibri"/>
              </a:rPr>
              <a:t>        │</a:t>
            </a:r>
          </a:p>
          <a:p>
            <a:pPr algn="l"/>
            <a:r>
              <a:rPr sz="1200" b="0" dirty="0">
                <a:solidFill>
                  <a:srgbClr val="1A1A1A"/>
                </a:solidFill>
                <a:latin typeface="Calibri"/>
              </a:rPr>
              <a:t>        ’—►  Vehicle owner claims a code, registers vehicle + 3 contacts</a:t>
            </a:r>
          </a:p>
          <a:p>
            <a:pPr algn="l"/>
            <a:r>
              <a:rPr sz="1200" b="0" dirty="0">
                <a:solidFill>
                  <a:srgbClr val="1A1A1A"/>
                </a:solidFill>
                <a:latin typeface="Calibri"/>
              </a:rPr>
              <a:t>                      │</a:t>
            </a:r>
          </a:p>
          <a:p>
            <a:pPr algn="l"/>
            <a:r>
              <a:rPr sz="1200" b="0" dirty="0">
                <a:solidFill>
                  <a:srgbClr val="1A1A1A"/>
                </a:solidFill>
                <a:latin typeface="Calibri"/>
              </a:rPr>
              <a:t>                      ’—►  Sticker printed &amp; placed on windshield</a:t>
            </a:r>
          </a:p>
          <a:p>
            <a:pPr algn="l"/>
            <a:r>
              <a:rPr sz="1200" b="0" dirty="0">
                <a:solidFill>
                  <a:srgbClr val="1A1A1A"/>
                </a:solidFill>
                <a:latin typeface="Calibri"/>
              </a:rPr>
              <a:t>                                    │</a:t>
            </a:r>
          </a:p>
          <a:p>
            <a:pPr algn="l"/>
            <a:r>
              <a:rPr sz="1200" b="0" dirty="0">
                <a:solidFill>
                  <a:srgbClr val="1A1A1A"/>
                </a:solidFill>
                <a:latin typeface="Calibri"/>
              </a:rPr>
              <a:t>                    ┌───────────────┴───────────────┐</a:t>
            </a:r>
          </a:p>
          <a:p>
            <a:pPr algn="l"/>
            <a:r>
              <a:rPr sz="1200" b="0" dirty="0">
                <a:solidFill>
                  <a:srgbClr val="1A1A1A"/>
                </a:solidFill>
                <a:latin typeface="Calibri"/>
              </a:rPr>
              <a:t>                    │    ACCIDENT / BREAKDOWN        │</a:t>
            </a:r>
          </a:p>
          <a:p>
            <a:pPr algn="l"/>
            <a:r>
              <a:rPr sz="1200" b="0" dirty="0">
                <a:solidFill>
                  <a:srgbClr val="1A1A1A"/>
                </a:solidFill>
                <a:latin typeface="Calibri"/>
              </a:rPr>
              <a:t>                    │    Rescuer scans the sticker    │</a:t>
            </a:r>
          </a:p>
          <a:p>
            <a:pPr algn="l"/>
            <a:r>
              <a:rPr sz="1200" b="0" dirty="0">
                <a:solidFill>
                  <a:srgbClr val="1A1A1A"/>
                </a:solidFill>
                <a:latin typeface="Calibri"/>
              </a:rPr>
              <a:t>                    └───────────────┬───────────────┘</a:t>
            </a:r>
          </a:p>
          <a:p>
            <a:pPr algn="l"/>
            <a:r>
              <a:rPr sz="1200" b="0" dirty="0">
                <a:solidFill>
                  <a:srgbClr val="1A1A1A"/>
                </a:solidFill>
                <a:latin typeface="Calibri"/>
              </a:rPr>
              <a:t>                                    ’—► System captures GPS</a:t>
            </a:r>
          </a:p>
          <a:p>
            <a:pPr algn="l"/>
            <a:r>
              <a:rPr sz="1200" b="0" dirty="0">
                <a:solidFill>
                  <a:srgbClr val="1A1A1A"/>
                </a:solidFill>
                <a:latin typeface="Calibri"/>
              </a:rPr>
              <a:t>                                    ’—► Auto-calls PRIMARY contact (voice)</a:t>
            </a:r>
          </a:p>
          <a:p>
            <a:pPr algn="l"/>
            <a:r>
              <a:rPr sz="1200" b="0" dirty="0">
                <a:solidFill>
                  <a:srgbClr val="1A1A1A"/>
                </a:solidFill>
                <a:latin typeface="Calibri"/>
              </a:rPr>
              <a:t>                                    ’—► Sends SMS with map link</a:t>
            </a:r>
          </a:p>
          <a:p>
            <a:pPr algn="l"/>
            <a:r>
              <a:rPr sz="1200" b="0" dirty="0">
                <a:solidFill>
                  <a:srgbClr val="1A1A1A"/>
                </a:solidFill>
                <a:latin typeface="Calibri"/>
              </a:rPr>
              <a:t>                                    ’—► Optional: send SOS to ALL contacts</a:t>
            </a:r>
          </a:p>
          <a:p>
            <a:pPr algn="l"/>
            <a:r>
              <a:rPr sz="1200" b="0" dirty="0">
                <a:solidFill>
                  <a:srgbClr val="1A1A1A"/>
                </a:solidFill>
                <a:latin typeface="Calibri"/>
              </a:rPr>
              <a:t>                                    ’—► Saved to SOS history + admin log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Key Features</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5</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Key Features</a:t>
            </a:r>
          </a:p>
        </p:txBody>
      </p:sp>
      <p:sp>
        <p:nvSpPr>
          <p:cNvPr id="6" name="TextBox 5"/>
          <p:cNvSpPr txBox="1"/>
          <p:nvPr/>
        </p:nvSpPr>
        <p:spPr>
          <a:xfrm>
            <a:off x="502920" y="1554480"/>
            <a:ext cx="11155680" cy="457200"/>
          </a:xfrm>
          <a:prstGeom prst="rect">
            <a:avLst/>
          </a:prstGeom>
          <a:noFill/>
        </p:spPr>
        <p:txBody>
          <a:bodyPr wrap="square">
            <a:spAutoFit/>
          </a:bodyPr>
          <a:lstStyle/>
          <a:p>
            <a:pPr algn="l"/>
            <a:r>
              <a:rPr sz="1300" b="0">
                <a:solidFill>
                  <a:srgbClr val="1A1A1A"/>
                </a:solidFill>
                <a:latin typeface="Calibri"/>
              </a:rPr>
              <a:t>   |   </a:t>
            </a:r>
          </a:p>
        </p:txBody>
      </p:sp>
      <p:sp>
        <p:nvSpPr>
          <p:cNvPr id="7" name="TextBox 6"/>
          <p:cNvSpPr txBox="1"/>
          <p:nvPr/>
        </p:nvSpPr>
        <p:spPr>
          <a:xfrm>
            <a:off x="502920" y="1920240"/>
            <a:ext cx="11155680" cy="457200"/>
          </a:xfrm>
          <a:prstGeom prst="rect">
            <a:avLst/>
          </a:prstGeom>
          <a:noFill/>
        </p:spPr>
        <p:txBody>
          <a:bodyPr wrap="square">
            <a:spAutoFit/>
          </a:bodyPr>
          <a:lstStyle/>
          <a:p>
            <a:pPr algn="l"/>
            <a:r>
              <a:rPr sz="1300" b="0">
                <a:solidFill>
                  <a:srgbClr val="1A1A1A"/>
                </a:solidFill>
                <a:latin typeface="Calibri"/>
              </a:rPr>
              <a:t>📱 **Zero-install scanning**   |   Works with any smartphone camera</a:t>
            </a:r>
          </a:p>
        </p:txBody>
      </p:sp>
      <p:sp>
        <p:nvSpPr>
          <p:cNvPr id="8" name="TextBox 7"/>
          <p:cNvSpPr txBox="1"/>
          <p:nvPr/>
        </p:nvSpPr>
        <p:spPr>
          <a:xfrm>
            <a:off x="502920" y="2286000"/>
            <a:ext cx="11155680" cy="457200"/>
          </a:xfrm>
          <a:prstGeom prst="rect">
            <a:avLst/>
          </a:prstGeom>
          <a:noFill/>
        </p:spPr>
        <p:txBody>
          <a:bodyPr wrap="square">
            <a:spAutoFit/>
          </a:bodyPr>
          <a:lstStyle/>
          <a:p>
            <a:pPr algn="l"/>
            <a:r>
              <a:rPr sz="1300" b="0">
                <a:solidFill>
                  <a:srgbClr val="1A1A1A"/>
                </a:solidFill>
                <a:latin typeface="Calibri"/>
              </a:rPr>
              <a:t>📍 **Automatic GPS capture**   |   Rescuer's live location sent to contacts</a:t>
            </a:r>
          </a:p>
        </p:txBody>
      </p:sp>
      <p:sp>
        <p:nvSpPr>
          <p:cNvPr id="9" name="TextBox 8"/>
          <p:cNvSpPr txBox="1"/>
          <p:nvPr/>
        </p:nvSpPr>
        <p:spPr>
          <a:xfrm>
            <a:off x="502920" y="2651760"/>
            <a:ext cx="11155680" cy="457200"/>
          </a:xfrm>
          <a:prstGeom prst="rect">
            <a:avLst/>
          </a:prstGeom>
          <a:noFill/>
        </p:spPr>
        <p:txBody>
          <a:bodyPr wrap="square">
            <a:spAutoFit/>
          </a:bodyPr>
          <a:lstStyle/>
          <a:p>
            <a:pPr algn="l"/>
            <a:r>
              <a:rPr sz="1300" b="0">
                <a:solidFill>
                  <a:srgbClr val="1A1A1A"/>
                </a:solidFill>
                <a:latin typeface="Calibri"/>
              </a:rPr>
              <a:t>☎️ **Auto-alert primary**   |   Fires the moment the page loads</a:t>
            </a:r>
          </a:p>
        </p:txBody>
      </p:sp>
      <p:sp>
        <p:nvSpPr>
          <p:cNvPr id="10" name="TextBox 9"/>
          <p:cNvSpPr txBox="1"/>
          <p:nvPr/>
        </p:nvSpPr>
        <p:spPr>
          <a:xfrm>
            <a:off x="502920" y="3017520"/>
            <a:ext cx="11155680" cy="457200"/>
          </a:xfrm>
          <a:prstGeom prst="rect">
            <a:avLst/>
          </a:prstGeom>
          <a:noFill/>
        </p:spPr>
        <p:txBody>
          <a:bodyPr wrap="square">
            <a:spAutoFit/>
          </a:bodyPr>
          <a:lstStyle/>
          <a:p>
            <a:pPr algn="l"/>
            <a:r>
              <a:rPr sz="1300" b="0">
                <a:solidFill>
                  <a:srgbClr val="1A1A1A"/>
                </a:solidFill>
                <a:latin typeface="Calibri"/>
              </a:rPr>
              <a:t>🗣️ **Voice call + SMS**   |   Spoken alert with vehicle info + map link</a:t>
            </a:r>
          </a:p>
        </p:txBody>
      </p:sp>
      <p:sp>
        <p:nvSpPr>
          <p:cNvPr id="11" name="TextBox 10"/>
          <p:cNvSpPr txBox="1"/>
          <p:nvPr/>
        </p:nvSpPr>
        <p:spPr>
          <a:xfrm>
            <a:off x="502920" y="3383279"/>
            <a:ext cx="11155680" cy="457200"/>
          </a:xfrm>
          <a:prstGeom prst="rect">
            <a:avLst/>
          </a:prstGeom>
          <a:noFill/>
        </p:spPr>
        <p:txBody>
          <a:bodyPr wrap="square">
            <a:spAutoFit/>
          </a:bodyPr>
          <a:lstStyle/>
          <a:p>
            <a:pPr algn="l"/>
            <a:r>
              <a:rPr sz="1300" b="0">
                <a:solidFill>
                  <a:srgbClr val="1A1A1A"/>
                </a:solidFill>
                <a:latin typeface="Calibri"/>
              </a:rPr>
              <a:t>🔒 **Privacy protected**   |   Contacts notified without exposing owner's info</a:t>
            </a:r>
          </a:p>
        </p:txBody>
      </p:sp>
      <p:sp>
        <p:nvSpPr>
          <p:cNvPr id="12" name="TextBox 11"/>
          <p:cNvSpPr txBox="1"/>
          <p:nvPr/>
        </p:nvSpPr>
        <p:spPr>
          <a:xfrm>
            <a:off x="502920" y="3749039"/>
            <a:ext cx="11155680" cy="457200"/>
          </a:xfrm>
          <a:prstGeom prst="rect">
            <a:avLst/>
          </a:prstGeom>
          <a:noFill/>
        </p:spPr>
        <p:txBody>
          <a:bodyPr wrap="square">
            <a:spAutoFit/>
          </a:bodyPr>
          <a:lstStyle/>
          <a:p>
            <a:pPr algn="l"/>
            <a:r>
              <a:rPr sz="1300" b="0">
                <a:solidFill>
                  <a:srgbClr val="1A1A1A"/>
                </a:solidFill>
                <a:latin typeface="Calibri"/>
              </a:rPr>
              <a:t>🧪 **Demo / simulation mode**   |   Full showcase without paid telecom services</a:t>
            </a:r>
          </a:p>
        </p:txBody>
      </p:sp>
      <p:sp>
        <p:nvSpPr>
          <p:cNvPr id="13" name="TextBox 12"/>
          <p:cNvSpPr txBox="1"/>
          <p:nvPr/>
        </p:nvSpPr>
        <p:spPr>
          <a:xfrm>
            <a:off x="502920" y="4114800"/>
            <a:ext cx="11155680" cy="457200"/>
          </a:xfrm>
          <a:prstGeom prst="rect">
            <a:avLst/>
          </a:prstGeom>
          <a:noFill/>
        </p:spPr>
        <p:txBody>
          <a:bodyPr wrap="square">
            <a:spAutoFit/>
          </a:bodyPr>
          <a:lstStyle/>
          <a:p>
            <a:pPr algn="l"/>
            <a:r>
              <a:rPr sz="1300" b="0">
                <a:solidFill>
                  <a:srgbClr val="1A1A1A"/>
                </a:solidFill>
                <a:latin typeface="Calibri"/>
              </a:rPr>
              <a:t>🖨️ **Printable sticker**   |   High-res PNG generated for glass mounting</a:t>
            </a:r>
          </a:p>
        </p:txBody>
      </p:sp>
      <p:sp>
        <p:nvSpPr>
          <p:cNvPr id="14" name="TextBox 13"/>
          <p:cNvSpPr txBox="1"/>
          <p:nvPr/>
        </p:nvSpPr>
        <p:spPr>
          <a:xfrm>
            <a:off x="502920" y="4480560"/>
            <a:ext cx="11155680" cy="457200"/>
          </a:xfrm>
          <a:prstGeom prst="rect">
            <a:avLst/>
          </a:prstGeom>
          <a:noFill/>
        </p:spPr>
        <p:txBody>
          <a:bodyPr wrap="square">
            <a:spAutoFit/>
          </a:bodyPr>
          <a:lstStyle/>
          <a:p>
            <a:pPr algn="l"/>
            <a:r>
              <a:rPr sz="1300" b="0">
                <a:solidFill>
                  <a:srgbClr val="1A1A1A"/>
                </a:solidFill>
                <a:latin typeface="Calibri"/>
              </a:rPr>
              <a:t>🛠️ **Admin dashboard**   |   Generate/export QR codes, view all users &amp; logs</a:t>
            </a:r>
          </a:p>
        </p:txBody>
      </p:sp>
      <p:sp>
        <p:nvSpPr>
          <p:cNvPr id="15" name="TextBox 14"/>
          <p:cNvSpPr txBox="1"/>
          <p:nvPr/>
        </p:nvSpPr>
        <p:spPr>
          <a:xfrm>
            <a:off x="502920" y="4846320"/>
            <a:ext cx="11155680" cy="457200"/>
          </a:xfrm>
          <a:prstGeom prst="rect">
            <a:avLst/>
          </a:prstGeom>
          <a:noFill/>
        </p:spPr>
        <p:txBody>
          <a:bodyPr wrap="square">
            <a:spAutoFit/>
          </a:bodyPr>
          <a:lstStyle/>
          <a:p>
            <a:pPr algn="l"/>
            <a:r>
              <a:rPr sz="1300" b="0">
                <a:solidFill>
                  <a:srgbClr val="1A1A1A"/>
                </a:solidFill>
                <a:latin typeface="Calibri"/>
              </a:rPr>
              <a:t>📊 **SOS analytics**   |   Real-time stats on the dashboard</a:t>
            </a:r>
          </a:p>
        </p:txBody>
      </p:sp>
      <p:sp>
        <p:nvSpPr>
          <p:cNvPr id="16" name="TextBox 15"/>
          <p:cNvSpPr txBox="1"/>
          <p:nvPr/>
        </p:nvSpPr>
        <p:spPr>
          <a:xfrm>
            <a:off x="502920" y="5212080"/>
            <a:ext cx="11155680" cy="457200"/>
          </a:xfrm>
          <a:prstGeom prst="rect">
            <a:avLst/>
          </a:prstGeom>
          <a:noFill/>
        </p:spPr>
        <p:txBody>
          <a:bodyPr wrap="square">
            <a:spAutoFit/>
          </a:bodyPr>
          <a:lstStyle/>
          <a:p>
            <a:pPr algn="l"/>
            <a:r>
              <a:rPr sz="1300" b="0">
                <a:solidFill>
                  <a:srgbClr val="1A1A1A"/>
                </a:solidFill>
                <a:latin typeface="Calibri"/>
              </a:rPr>
              <a:t>📜 **SOS history**   |   Every user can review their past alerts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The Services</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6</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Services Delivered</a:t>
            </a:r>
          </a:p>
        </p:txBody>
      </p:sp>
      <p:sp>
        <p:nvSpPr>
          <p:cNvPr id="6" name="TextBox 5"/>
          <p:cNvSpPr txBox="1"/>
          <p:nvPr/>
        </p:nvSpPr>
        <p:spPr>
          <a:xfrm>
            <a:off x="502920" y="1554480"/>
            <a:ext cx="11155680" cy="1371600"/>
          </a:xfrm>
          <a:prstGeom prst="rect">
            <a:avLst/>
          </a:prstGeom>
          <a:noFill/>
        </p:spPr>
        <p:txBody>
          <a:bodyPr wrap="square">
            <a:spAutoFit/>
          </a:bodyPr>
          <a:lstStyle/>
          <a:p>
            <a:pPr algn="l"/>
            <a:r>
              <a:rPr sz="1600" b="0">
                <a:solidFill>
                  <a:srgbClr val="1A1A1A"/>
                </a:solidFill>
                <a:latin typeface="Calibri"/>
              </a:rPr>
              <a:t>1. **QR Code Generation &amp; Management** — unique secure codes, bulk generation, CSV export</a:t>
            </a:r>
          </a:p>
        </p:txBody>
      </p:sp>
      <p:sp>
        <p:nvSpPr>
          <p:cNvPr id="7" name="TextBox 6"/>
          <p:cNvSpPr txBox="1"/>
          <p:nvPr/>
        </p:nvSpPr>
        <p:spPr>
          <a:xfrm>
            <a:off x="502920" y="2194560"/>
            <a:ext cx="11155680" cy="1371600"/>
          </a:xfrm>
          <a:prstGeom prst="rect">
            <a:avLst/>
          </a:prstGeom>
          <a:noFill/>
        </p:spPr>
        <p:txBody>
          <a:bodyPr wrap="square">
            <a:spAutoFit/>
          </a:bodyPr>
          <a:lstStyle/>
          <a:p>
            <a:pPr algn="l"/>
            <a:r>
              <a:rPr sz="1600" b="0">
                <a:solidFill>
                  <a:srgbClr val="1A1A1A"/>
                </a:solidFill>
                <a:latin typeface="Calibri"/>
              </a:rPr>
              <a:t>2. **Vehicle Registration** — link a vehicle to a QR code with full details</a:t>
            </a:r>
          </a:p>
        </p:txBody>
      </p:sp>
      <p:sp>
        <p:nvSpPr>
          <p:cNvPr id="8" name="TextBox 7"/>
          <p:cNvSpPr txBox="1"/>
          <p:nvPr/>
        </p:nvSpPr>
        <p:spPr>
          <a:xfrm>
            <a:off x="502920" y="2834640"/>
            <a:ext cx="11155680" cy="1371600"/>
          </a:xfrm>
          <a:prstGeom prst="rect">
            <a:avLst/>
          </a:prstGeom>
          <a:noFill/>
        </p:spPr>
        <p:txBody>
          <a:bodyPr wrap="square">
            <a:spAutoFit/>
          </a:bodyPr>
          <a:lstStyle/>
          <a:p>
            <a:pPr algn="l"/>
            <a:r>
              <a:rPr sz="1600" b="0">
                <a:solidFill>
                  <a:srgbClr val="1A1A1A"/>
                </a:solidFill>
                <a:latin typeface="Calibri"/>
              </a:rPr>
              <a:t>3. **Emergency Contacts** — up to 3 prioritized contacts per owner</a:t>
            </a:r>
          </a:p>
        </p:txBody>
      </p:sp>
      <p:sp>
        <p:nvSpPr>
          <p:cNvPr id="9" name="TextBox 8"/>
          <p:cNvSpPr txBox="1"/>
          <p:nvPr/>
        </p:nvSpPr>
        <p:spPr>
          <a:xfrm>
            <a:off x="502920" y="3474720"/>
            <a:ext cx="11155680" cy="1371600"/>
          </a:xfrm>
          <a:prstGeom prst="rect">
            <a:avLst/>
          </a:prstGeom>
          <a:noFill/>
        </p:spPr>
        <p:txBody>
          <a:bodyPr wrap="square">
            <a:spAutoFit/>
          </a:bodyPr>
          <a:lstStyle/>
          <a:p>
            <a:pPr algn="l"/>
            <a:r>
              <a:rPr sz="1600" b="0">
                <a:solidFill>
                  <a:srgbClr val="1A1A1A"/>
                </a:solidFill>
                <a:latin typeface="Calibri"/>
              </a:rPr>
              <a:t>4. **Automated Voice Alerts** — Plivo-powered call with spoken vehicle + location info</a:t>
            </a:r>
          </a:p>
        </p:txBody>
      </p:sp>
      <p:sp>
        <p:nvSpPr>
          <p:cNvPr id="10" name="TextBox 9"/>
          <p:cNvSpPr txBox="1"/>
          <p:nvPr/>
        </p:nvSpPr>
        <p:spPr>
          <a:xfrm>
            <a:off x="502920" y="4114800"/>
            <a:ext cx="11155680" cy="1371600"/>
          </a:xfrm>
          <a:prstGeom prst="rect">
            <a:avLst/>
          </a:prstGeom>
          <a:noFill/>
        </p:spPr>
        <p:txBody>
          <a:bodyPr wrap="square">
            <a:spAutoFit/>
          </a:bodyPr>
          <a:lstStyle/>
          <a:p>
            <a:pPr algn="l"/>
            <a:r>
              <a:rPr sz="1600" b="0">
                <a:solidFill>
                  <a:srgbClr val="1A1A1A"/>
                </a:solidFill>
                <a:latin typeface="Calibri"/>
              </a:rPr>
              <a:t>5. **GPS Location SMS** — text message with a live map link</a:t>
            </a:r>
          </a:p>
        </p:txBody>
      </p:sp>
      <p:sp>
        <p:nvSpPr>
          <p:cNvPr id="11" name="TextBox 10"/>
          <p:cNvSpPr txBox="1"/>
          <p:nvPr/>
        </p:nvSpPr>
        <p:spPr>
          <a:xfrm>
            <a:off x="502920" y="4572000"/>
            <a:ext cx="11155680" cy="1371600"/>
          </a:xfrm>
          <a:prstGeom prst="rect">
            <a:avLst/>
          </a:prstGeom>
          <a:noFill/>
        </p:spPr>
        <p:txBody>
          <a:bodyPr wrap="square">
            <a:spAutoFit/>
          </a:bodyPr>
          <a:lstStyle/>
          <a:p>
            <a:pPr algn="l"/>
            <a:r>
              <a:rPr sz="1600" b="0">
                <a:solidFill>
                  <a:srgbClr val="1A1A1A"/>
                </a:solidFill>
                <a:latin typeface="Calibri"/>
              </a:rPr>
              <a:t>6. **Emergency Beep / Flash** — attention-grabbing audio + visual on the SOS page</a:t>
            </a:r>
          </a:p>
        </p:txBody>
      </p:sp>
      <p:sp>
        <p:nvSpPr>
          <p:cNvPr id="12" name="TextBox 11"/>
          <p:cNvSpPr txBox="1"/>
          <p:nvPr/>
        </p:nvSpPr>
        <p:spPr>
          <a:xfrm>
            <a:off x="502920" y="5212080"/>
            <a:ext cx="11155680" cy="1371600"/>
          </a:xfrm>
          <a:prstGeom prst="rect">
            <a:avLst/>
          </a:prstGeom>
          <a:noFill/>
        </p:spPr>
        <p:txBody>
          <a:bodyPr wrap="square">
            <a:spAutoFit/>
          </a:bodyPr>
          <a:lstStyle/>
          <a:p>
            <a:pPr algn="l"/>
            <a:r>
              <a:rPr sz="1600" b="0">
                <a:solidFill>
                  <a:srgbClr val="1A1A1A"/>
                </a:solidFill>
                <a:latin typeface="Calibri"/>
              </a:rPr>
              <a:t>7. **Sticker Generation** — printable, ready-to-mount window sticker (PNG)</a:t>
            </a:r>
          </a:p>
        </p:txBody>
      </p:sp>
      <p:sp>
        <p:nvSpPr>
          <p:cNvPr id="13" name="TextBox 12"/>
          <p:cNvSpPr txBox="1"/>
          <p:nvPr/>
        </p:nvSpPr>
        <p:spPr>
          <a:xfrm>
            <a:off x="502920" y="5852160"/>
            <a:ext cx="11155680" cy="1371600"/>
          </a:xfrm>
          <a:prstGeom prst="rect">
            <a:avLst/>
          </a:prstGeom>
          <a:noFill/>
        </p:spPr>
        <p:txBody>
          <a:bodyPr wrap="square">
            <a:spAutoFit/>
          </a:bodyPr>
          <a:lstStyle/>
          <a:p>
            <a:pPr algn="l"/>
            <a:r>
              <a:rPr sz="1600" b="0">
                <a:solidFill>
                  <a:srgbClr val="1A1A1A"/>
                </a:solidFill>
                <a:latin typeface="Calibri"/>
              </a:rPr>
              <a:t>8. **SOS History &amp; Admin Analytics** — full audit trail + dashboard statistics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Advantages ✅</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9</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Advantages</a:t>
            </a:r>
          </a:p>
        </p:txBody>
      </p:sp>
      <p:sp>
        <p:nvSpPr>
          <p:cNvPr id="6" name="TextBox 5"/>
          <p:cNvSpPr txBox="1"/>
          <p:nvPr/>
        </p:nvSpPr>
        <p:spPr>
          <a:xfrm>
            <a:off x="502920" y="1554480"/>
            <a:ext cx="11155680" cy="1371600"/>
          </a:xfrm>
          <a:prstGeom prst="rect">
            <a:avLst/>
          </a:prstGeom>
          <a:noFill/>
        </p:spPr>
        <p:txBody>
          <a:bodyPr wrap="square">
            <a:spAutoFit/>
          </a:bodyPr>
          <a:lstStyle/>
          <a:p>
            <a:pPr algn="l"/>
            <a:r>
              <a:rPr sz="1600" b="0">
                <a:solidFill>
                  <a:srgbClr val="1A1A1A"/>
                </a:solidFill>
                <a:latin typeface="Calibri"/>
              </a:rPr>
              <a:t>- 🏷️ **Zero hardware cost** — only a printed sticker</a:t>
            </a:r>
          </a:p>
        </p:txBody>
      </p:sp>
      <p:sp>
        <p:nvSpPr>
          <p:cNvPr id="7" name="TextBox 6"/>
          <p:cNvSpPr txBox="1"/>
          <p:nvPr/>
        </p:nvSpPr>
        <p:spPr>
          <a:xfrm>
            <a:off x="502920" y="2011680"/>
            <a:ext cx="11155680" cy="1371600"/>
          </a:xfrm>
          <a:prstGeom prst="rect">
            <a:avLst/>
          </a:prstGeom>
          <a:noFill/>
        </p:spPr>
        <p:txBody>
          <a:bodyPr wrap="square">
            <a:spAutoFit/>
          </a:bodyPr>
          <a:lstStyle/>
          <a:p>
            <a:pPr algn="l"/>
            <a:r>
              <a:rPr sz="1600" b="0">
                <a:solidFill>
                  <a:srgbClr val="1A1A1A"/>
                </a:solidFill>
                <a:latin typeface="Calibri"/>
              </a:rPr>
              <a:t>- 📱 **No app for rescuers** — universal scan &amp; assist</a:t>
            </a:r>
          </a:p>
        </p:txBody>
      </p:sp>
      <p:sp>
        <p:nvSpPr>
          <p:cNvPr id="8" name="TextBox 7"/>
          <p:cNvSpPr txBox="1"/>
          <p:nvPr/>
        </p:nvSpPr>
        <p:spPr>
          <a:xfrm>
            <a:off x="502920" y="2468880"/>
            <a:ext cx="11155680" cy="1371600"/>
          </a:xfrm>
          <a:prstGeom prst="rect">
            <a:avLst/>
          </a:prstGeom>
          <a:noFill/>
        </p:spPr>
        <p:txBody>
          <a:bodyPr wrap="square">
            <a:spAutoFit/>
          </a:bodyPr>
          <a:lstStyle/>
          <a:p>
            <a:pPr algn="l"/>
            <a:r>
              <a:rPr sz="1600" b="0">
                <a:solidFill>
                  <a:srgbClr val="1A1A1A"/>
                </a:solidFill>
                <a:latin typeface="Calibri"/>
              </a:rPr>
              <a:t>- ⚡ **Fast response** — GPS auto-captured, primary auto-dialled</a:t>
            </a:r>
          </a:p>
        </p:txBody>
      </p:sp>
      <p:sp>
        <p:nvSpPr>
          <p:cNvPr id="9" name="TextBox 8"/>
          <p:cNvSpPr txBox="1"/>
          <p:nvPr/>
        </p:nvSpPr>
        <p:spPr>
          <a:xfrm>
            <a:off x="502920" y="3108960"/>
            <a:ext cx="11155680" cy="1371600"/>
          </a:xfrm>
          <a:prstGeom prst="rect">
            <a:avLst/>
          </a:prstGeom>
          <a:noFill/>
        </p:spPr>
        <p:txBody>
          <a:bodyPr wrap="square">
            <a:spAutoFit/>
          </a:bodyPr>
          <a:lstStyle/>
          <a:p>
            <a:pPr algn="l"/>
            <a:r>
              <a:rPr sz="1600" b="0">
                <a:solidFill>
                  <a:srgbClr val="1A1A1A"/>
                </a:solidFill>
                <a:latin typeface="Calibri"/>
              </a:rPr>
              <a:t>- 🙏 **Good Samaritan friendly** — passersby can help safely</a:t>
            </a:r>
          </a:p>
        </p:txBody>
      </p:sp>
      <p:sp>
        <p:nvSpPr>
          <p:cNvPr id="10" name="TextBox 9"/>
          <p:cNvSpPr txBox="1"/>
          <p:nvPr/>
        </p:nvSpPr>
        <p:spPr>
          <a:xfrm>
            <a:off x="502920" y="3566160"/>
            <a:ext cx="11155680" cy="1371600"/>
          </a:xfrm>
          <a:prstGeom prst="rect">
            <a:avLst/>
          </a:prstGeom>
          <a:noFill/>
        </p:spPr>
        <p:txBody>
          <a:bodyPr wrap="square">
            <a:spAutoFit/>
          </a:bodyPr>
          <a:lstStyle/>
          <a:p>
            <a:pPr algn="l"/>
            <a:r>
              <a:rPr sz="1600" b="0">
                <a:solidFill>
                  <a:srgbClr val="1A1A1A"/>
                </a:solidFill>
                <a:latin typeface="Calibri"/>
              </a:rPr>
              <a:t>- 🔒 **Privacy preserving** — owner's info hidden from strangers</a:t>
            </a:r>
          </a:p>
        </p:txBody>
      </p:sp>
      <p:sp>
        <p:nvSpPr>
          <p:cNvPr id="11" name="TextBox 10"/>
          <p:cNvSpPr txBox="1"/>
          <p:nvPr/>
        </p:nvSpPr>
        <p:spPr>
          <a:xfrm>
            <a:off x="502920" y="4206240"/>
            <a:ext cx="11155680" cy="1371600"/>
          </a:xfrm>
          <a:prstGeom prst="rect">
            <a:avLst/>
          </a:prstGeom>
          <a:noFill/>
        </p:spPr>
        <p:txBody>
          <a:bodyPr wrap="square">
            <a:spAutoFit/>
          </a:bodyPr>
          <a:lstStyle/>
          <a:p>
            <a:pPr algn="l"/>
            <a:r>
              <a:rPr sz="1600" b="0">
                <a:solidFill>
                  <a:srgbClr val="1A1A1A"/>
                </a:solidFill>
                <a:latin typeface="Calibri"/>
              </a:rPr>
              <a:t>- 📈 **Scalable &amp; cheap** — bulk QR generation, low per-vehicle cost</a:t>
            </a:r>
          </a:p>
        </p:txBody>
      </p:sp>
      <p:sp>
        <p:nvSpPr>
          <p:cNvPr id="12" name="TextBox 11"/>
          <p:cNvSpPr txBox="1"/>
          <p:nvPr/>
        </p:nvSpPr>
        <p:spPr>
          <a:xfrm>
            <a:off x="502920" y="4846320"/>
            <a:ext cx="11155680" cy="1371600"/>
          </a:xfrm>
          <a:prstGeom prst="rect">
            <a:avLst/>
          </a:prstGeom>
          <a:noFill/>
        </p:spPr>
        <p:txBody>
          <a:bodyPr wrap="square">
            <a:spAutoFit/>
          </a:bodyPr>
          <a:lstStyle/>
          <a:p>
            <a:pPr algn="l"/>
            <a:r>
              <a:rPr sz="1600" b="0">
                <a:solidFill>
                  <a:srgbClr val="1A1A1A"/>
                </a:solidFill>
                <a:latin typeface="Calibri"/>
              </a:rPr>
              <a:t>- 🗂️ **Data-driven** — SOS analytics for fleet/community monitoring</a:t>
            </a:r>
          </a:p>
        </p:txBody>
      </p:sp>
      <p:sp>
        <p:nvSpPr>
          <p:cNvPr id="13" name="TextBox 12"/>
          <p:cNvSpPr txBox="1"/>
          <p:nvPr/>
        </p:nvSpPr>
        <p:spPr>
          <a:xfrm>
            <a:off x="502920" y="5486400"/>
            <a:ext cx="11155680" cy="1371600"/>
          </a:xfrm>
          <a:prstGeom prst="rect">
            <a:avLst/>
          </a:prstGeom>
          <a:noFill/>
        </p:spPr>
        <p:txBody>
          <a:bodyPr wrap="square">
            <a:spAutoFit/>
          </a:bodyPr>
          <a:lstStyle/>
          <a:p>
            <a:pPr algn="l"/>
            <a:r>
              <a:rPr sz="1600" b="0">
                <a:solidFill>
                  <a:srgbClr val="1A1A1A"/>
                </a:solidFill>
                <a:latin typeface="Calibri"/>
              </a:rPr>
              <a:t>- 🧩 **Open-source &amp; extensible** — Flask + SQLite, easy to customize</a:t>
            </a:r>
          </a:p>
        </p:txBody>
      </p:sp>
      <p:sp>
        <p:nvSpPr>
          <p:cNvPr id="14" name="TextBox 13"/>
          <p:cNvSpPr txBox="1"/>
          <p:nvPr/>
        </p:nvSpPr>
        <p:spPr>
          <a:xfrm>
            <a:off x="502920" y="6126480"/>
            <a:ext cx="11155680" cy="1371600"/>
          </a:xfrm>
          <a:prstGeom prst="rect">
            <a:avLst/>
          </a:prstGeom>
          <a:noFill/>
        </p:spPr>
        <p:txBody>
          <a:bodyPr wrap="square">
            <a:spAutoFit/>
          </a:bodyPr>
          <a:lstStyle/>
          <a:p>
            <a:pPr algn="l"/>
            <a:r>
              <a:rPr sz="1600" b="0">
                <a:solidFill>
                  <a:srgbClr val="1A1A1A"/>
                </a:solidFill>
                <a:latin typeface="Calibri"/>
              </a:rPr>
              <a:t>- 🧪 **Demo mode** — presentable without paid services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Does It Benefit the Community?</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11</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Community Benefit: An Overwhelming Yes</a:t>
            </a:r>
          </a:p>
        </p:txBody>
      </p:sp>
      <p:sp>
        <p:nvSpPr>
          <p:cNvPr id="6" name="TextBox 5"/>
          <p:cNvSpPr txBox="1"/>
          <p:nvPr/>
        </p:nvSpPr>
        <p:spPr>
          <a:xfrm>
            <a:off x="502920" y="1554480"/>
            <a:ext cx="11155680" cy="1371600"/>
          </a:xfrm>
          <a:prstGeom prst="rect">
            <a:avLst/>
          </a:prstGeom>
          <a:noFill/>
        </p:spPr>
        <p:txBody>
          <a:bodyPr wrap="square">
            <a:spAutoFit/>
          </a:bodyPr>
          <a:lstStyle/>
          <a:p>
            <a:pPr algn="l"/>
            <a:r>
              <a:rPr sz="1600" b="0">
                <a:solidFill>
                  <a:srgbClr val="1A1A1A"/>
                </a:solidFill>
                <a:latin typeface="Calibri"/>
              </a:rPr>
              <a:t>- 🚑 **Faster emergency response** — help claims the critical first minutes</a:t>
            </a:r>
          </a:p>
        </p:txBody>
      </p:sp>
      <p:sp>
        <p:nvSpPr>
          <p:cNvPr id="7" name="TextBox 6"/>
          <p:cNvSpPr txBox="1"/>
          <p:nvPr/>
        </p:nvSpPr>
        <p:spPr>
          <a:xfrm>
            <a:off x="502920" y="2194560"/>
            <a:ext cx="11155680" cy="1371600"/>
          </a:xfrm>
          <a:prstGeom prst="rect">
            <a:avLst/>
          </a:prstGeom>
          <a:noFill/>
        </p:spPr>
        <p:txBody>
          <a:bodyPr wrap="square">
            <a:spAutoFit/>
          </a:bodyPr>
          <a:lstStyle/>
          <a:p>
            <a:pPr algn="l"/>
            <a:r>
              <a:rPr sz="1600" b="0">
                <a:solidFill>
                  <a:srgbClr val="1A1A1A"/>
                </a:solidFill>
                <a:latin typeface="Calibri"/>
              </a:rPr>
              <a:t>- 🤝 **Empowers bystanders** — any citizen becomes a first responder</a:t>
            </a:r>
          </a:p>
        </p:txBody>
      </p:sp>
      <p:sp>
        <p:nvSpPr>
          <p:cNvPr id="8" name="TextBox 7"/>
          <p:cNvSpPr txBox="1"/>
          <p:nvPr/>
        </p:nvSpPr>
        <p:spPr>
          <a:xfrm>
            <a:off x="502920" y="2834640"/>
            <a:ext cx="11155680" cy="1371600"/>
          </a:xfrm>
          <a:prstGeom prst="rect">
            <a:avLst/>
          </a:prstGeom>
          <a:noFill/>
        </p:spPr>
        <p:txBody>
          <a:bodyPr wrap="square">
            <a:spAutoFit/>
          </a:bodyPr>
          <a:lstStyle/>
          <a:p>
            <a:pPr algn="l"/>
            <a:r>
              <a:rPr sz="1600" b="0">
                <a:solidFill>
                  <a:srgbClr val="1A1A1A"/>
                </a:solidFill>
                <a:latin typeface="Calibri"/>
              </a:rPr>
              <a:t>- 👵 **Protects vulnerable drivers** — elderly, solo travellers, fleets</a:t>
            </a:r>
          </a:p>
        </p:txBody>
      </p:sp>
      <p:sp>
        <p:nvSpPr>
          <p:cNvPr id="9" name="TextBox 8"/>
          <p:cNvSpPr txBox="1"/>
          <p:nvPr/>
        </p:nvSpPr>
        <p:spPr>
          <a:xfrm>
            <a:off x="502920" y="3474720"/>
            <a:ext cx="11155680" cy="1371600"/>
          </a:xfrm>
          <a:prstGeom prst="rect">
            <a:avLst/>
          </a:prstGeom>
          <a:noFill/>
        </p:spPr>
        <p:txBody>
          <a:bodyPr wrap="square">
            <a:spAutoFit/>
          </a:bodyPr>
          <a:lstStyle/>
          <a:p>
            <a:pPr algn="l"/>
            <a:r>
              <a:rPr sz="1600" b="0">
                <a:solidFill>
                  <a:srgbClr val="1A1A1A"/>
                </a:solidFill>
                <a:latin typeface="Calibri"/>
              </a:rPr>
              <a:t>- 💰 **Cost-effective program** — NGOs, local gov, taxi/transport fleets can deploy affordably</a:t>
            </a:r>
          </a:p>
        </p:txBody>
      </p:sp>
      <p:sp>
        <p:nvSpPr>
          <p:cNvPr id="10" name="TextBox 9"/>
          <p:cNvSpPr txBox="1"/>
          <p:nvPr/>
        </p:nvSpPr>
        <p:spPr>
          <a:xfrm>
            <a:off x="502920" y="4114800"/>
            <a:ext cx="11155680" cy="1371600"/>
          </a:xfrm>
          <a:prstGeom prst="rect">
            <a:avLst/>
          </a:prstGeom>
          <a:noFill/>
        </p:spPr>
        <p:txBody>
          <a:bodyPr wrap="square">
            <a:spAutoFit/>
          </a:bodyPr>
          <a:lstStyle/>
          <a:p>
            <a:pPr algn="l"/>
            <a:r>
              <a:rPr sz="1600" b="0">
                <a:solidFill>
                  <a:srgbClr val="1A1A1A"/>
                </a:solidFill>
                <a:latin typeface="Calibri"/>
              </a:rPr>
              <a:t>- 📊 **Road-safety insights** — SOS data helps identify accident-prone areas</a:t>
            </a:r>
          </a:p>
        </p:txBody>
      </p:sp>
      <p:sp>
        <p:nvSpPr>
          <p:cNvPr id="11" name="TextBox 10"/>
          <p:cNvSpPr txBox="1"/>
          <p:nvPr/>
        </p:nvSpPr>
        <p:spPr>
          <a:xfrm>
            <a:off x="502920" y="4754880"/>
            <a:ext cx="11155680" cy="1371600"/>
          </a:xfrm>
          <a:prstGeom prst="rect">
            <a:avLst/>
          </a:prstGeom>
          <a:noFill/>
        </p:spPr>
        <p:txBody>
          <a:bodyPr wrap="square">
            <a:spAutoFit/>
          </a:bodyPr>
          <a:lstStyle/>
          <a:p>
            <a:pPr algn="l"/>
            <a:r>
              <a:rPr sz="1600" b="0">
                <a:solidFill>
                  <a:srgbClr val="1A1A1A"/>
                </a:solidFill>
                <a:latin typeface="Calibri"/>
              </a:rPr>
              <a:t>- 🎓 **Awareness &amp; preparedness** — promotes mutual aid and readiness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Summary</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13</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Summary</a:t>
            </a:r>
          </a:p>
        </p:txBody>
      </p:sp>
      <p:sp>
        <p:nvSpPr>
          <p:cNvPr id="6" name="TextBox 5"/>
          <p:cNvSpPr txBox="1"/>
          <p:nvPr/>
        </p:nvSpPr>
        <p:spPr>
          <a:xfrm>
            <a:off x="502920" y="1554480"/>
            <a:ext cx="11155680" cy="457200"/>
          </a:xfrm>
          <a:prstGeom prst="rect">
            <a:avLst/>
          </a:prstGeom>
          <a:noFill/>
        </p:spPr>
        <p:txBody>
          <a:bodyPr wrap="square">
            <a:spAutoFit/>
          </a:bodyPr>
          <a:lstStyle/>
          <a:p>
            <a:pPr algn="l"/>
            <a:r>
              <a:rPr sz="1300" b="0">
                <a:solidFill>
                  <a:srgbClr val="1A1A1A"/>
                </a:solidFill>
                <a:latin typeface="Calibri"/>
              </a:rPr>
              <a:t>   |   </a:t>
            </a:r>
          </a:p>
        </p:txBody>
      </p:sp>
      <p:sp>
        <p:nvSpPr>
          <p:cNvPr id="7" name="TextBox 6"/>
          <p:cNvSpPr txBox="1"/>
          <p:nvPr/>
        </p:nvSpPr>
        <p:spPr>
          <a:xfrm>
            <a:off x="502920" y="1920240"/>
            <a:ext cx="11155680" cy="457200"/>
          </a:xfrm>
          <a:prstGeom prst="rect">
            <a:avLst/>
          </a:prstGeom>
          <a:noFill/>
        </p:spPr>
        <p:txBody>
          <a:bodyPr wrap="square">
            <a:spAutoFit/>
          </a:bodyPr>
          <a:lstStyle/>
          <a:p>
            <a:pPr algn="l"/>
            <a:r>
              <a:rPr sz="1300" b="0">
                <a:solidFill>
                  <a:srgbClr val="1A1A1A"/>
                </a:solidFill>
                <a:latin typeface="Calibri"/>
              </a:rPr>
              <a:t>**What**   |   QR-based emergency alert system for vehicles</a:t>
            </a:r>
          </a:p>
        </p:txBody>
      </p:sp>
      <p:sp>
        <p:nvSpPr>
          <p:cNvPr id="8" name="TextBox 7"/>
          <p:cNvSpPr txBox="1"/>
          <p:nvPr/>
        </p:nvSpPr>
        <p:spPr>
          <a:xfrm>
            <a:off x="502920" y="2286000"/>
            <a:ext cx="11155680" cy="457200"/>
          </a:xfrm>
          <a:prstGeom prst="rect">
            <a:avLst/>
          </a:prstGeom>
          <a:noFill/>
        </p:spPr>
        <p:txBody>
          <a:bodyPr wrap="square">
            <a:spAutoFit/>
          </a:bodyPr>
          <a:lstStyle/>
          <a:p>
            <a:pPr algn="l"/>
            <a:r>
              <a:rPr sz="1300" b="0">
                <a:solidFill>
                  <a:srgbClr val="1A1A1A"/>
                </a:solidFill>
                <a:latin typeface="Calibri"/>
              </a:rPr>
              <a:t>**Why**   |   Speed saves lives; bystanders need a way to help</a:t>
            </a:r>
          </a:p>
        </p:txBody>
      </p:sp>
      <p:sp>
        <p:nvSpPr>
          <p:cNvPr id="9" name="TextBox 8"/>
          <p:cNvSpPr txBox="1"/>
          <p:nvPr/>
        </p:nvSpPr>
        <p:spPr>
          <a:xfrm>
            <a:off x="502920" y="2651760"/>
            <a:ext cx="11155680" cy="457200"/>
          </a:xfrm>
          <a:prstGeom prst="rect">
            <a:avLst/>
          </a:prstGeom>
          <a:noFill/>
        </p:spPr>
        <p:txBody>
          <a:bodyPr wrap="square">
            <a:spAutoFit/>
          </a:bodyPr>
          <a:lstStyle/>
          <a:p>
            <a:pPr algn="l"/>
            <a:r>
              <a:rPr sz="1300" b="0">
                <a:solidFill>
                  <a:srgbClr val="1A1A1A"/>
                </a:solidFill>
                <a:latin typeface="Calibri"/>
              </a:rPr>
              <a:t>**How**   |   Scan sticker → auto-call primary + send GPS SMS</a:t>
            </a:r>
          </a:p>
        </p:txBody>
      </p:sp>
      <p:sp>
        <p:nvSpPr>
          <p:cNvPr id="10" name="TextBox 9"/>
          <p:cNvSpPr txBox="1"/>
          <p:nvPr/>
        </p:nvSpPr>
        <p:spPr>
          <a:xfrm>
            <a:off x="502920" y="3017520"/>
            <a:ext cx="11155680" cy="457200"/>
          </a:xfrm>
          <a:prstGeom prst="rect">
            <a:avLst/>
          </a:prstGeom>
          <a:noFill/>
        </p:spPr>
        <p:txBody>
          <a:bodyPr wrap="square">
            <a:spAutoFit/>
          </a:bodyPr>
          <a:lstStyle/>
          <a:p>
            <a:pPr algn="l"/>
            <a:r>
              <a:rPr sz="1300" b="0">
                <a:solidFill>
                  <a:srgbClr val="1A1A1A"/>
                </a:solidFill>
                <a:latin typeface="Calibri"/>
              </a:rPr>
              <a:t>**Built with**   |   Flask, SQLite, Plivo, QR/Pillow</a:t>
            </a:r>
          </a:p>
        </p:txBody>
      </p:sp>
      <p:sp>
        <p:nvSpPr>
          <p:cNvPr id="11" name="TextBox 10"/>
          <p:cNvSpPr txBox="1"/>
          <p:nvPr/>
        </p:nvSpPr>
        <p:spPr>
          <a:xfrm>
            <a:off x="502920" y="3383279"/>
            <a:ext cx="11155680" cy="457200"/>
          </a:xfrm>
          <a:prstGeom prst="rect">
            <a:avLst/>
          </a:prstGeom>
          <a:noFill/>
        </p:spPr>
        <p:txBody>
          <a:bodyPr wrap="square">
            <a:spAutoFit/>
          </a:bodyPr>
          <a:lstStyle/>
          <a:p>
            <a:pPr algn="l"/>
            <a:r>
              <a:rPr sz="1300" b="0">
                <a:solidFill>
                  <a:srgbClr val="1A1A1A"/>
                </a:solidFill>
                <a:latin typeface="Calibri"/>
              </a:rPr>
              <a:t>**Strength**   |   Zero hardware, no app, privacy-safe, low cost</a:t>
            </a:r>
          </a:p>
        </p:txBody>
      </p:sp>
      <p:sp>
        <p:nvSpPr>
          <p:cNvPr id="12" name="TextBox 11"/>
          <p:cNvSpPr txBox="1"/>
          <p:nvPr/>
        </p:nvSpPr>
        <p:spPr>
          <a:xfrm>
            <a:off x="502920" y="3749039"/>
            <a:ext cx="11155680" cy="457200"/>
          </a:xfrm>
          <a:prstGeom prst="rect">
            <a:avLst/>
          </a:prstGeom>
          <a:noFill/>
        </p:spPr>
        <p:txBody>
          <a:bodyPr wrap="square">
            <a:spAutoFit/>
          </a:bodyPr>
          <a:lstStyle/>
          <a:p>
            <a:pPr algn="l"/>
            <a:r>
              <a:rPr sz="1300" b="0">
                <a:solidFill>
                  <a:srgbClr val="1A1A1A"/>
                </a:solidFill>
                <a:latin typeface="Calibri"/>
              </a:rPr>
              <a:t>**Gaps**   |   Needs production hardening &amp; paid telecom</a:t>
            </a:r>
          </a:p>
        </p:txBody>
      </p:sp>
      <p:sp>
        <p:nvSpPr>
          <p:cNvPr id="13" name="TextBox 12"/>
          <p:cNvSpPr txBox="1"/>
          <p:nvPr/>
        </p:nvSpPr>
        <p:spPr>
          <a:xfrm>
            <a:off x="502920" y="4114800"/>
            <a:ext cx="11155680" cy="457200"/>
          </a:xfrm>
          <a:prstGeom prst="rect">
            <a:avLst/>
          </a:prstGeom>
          <a:noFill/>
        </p:spPr>
        <p:txBody>
          <a:bodyPr wrap="square">
            <a:spAutoFit/>
          </a:bodyPr>
          <a:lstStyle/>
          <a:p>
            <a:pPr algn="l"/>
            <a:r>
              <a:rPr sz="1300" b="0">
                <a:solidFill>
                  <a:srgbClr val="1A1A1A"/>
                </a:solidFill>
                <a:latin typeface="Calibri"/>
              </a:rPr>
              <a:t>**Impact**   |   Strong community benefit for road safety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68680"/>
          </a:xfrm>
          <a:prstGeom prst="rect">
            <a:avLst/>
          </a:prstGeom>
          <a:solidFill>
            <a:srgbClr val="B71C1C"/>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109728" rIns="365760" rtlCol="0" anchor="ctr"/>
          <a:lstStyle/>
          <a:p>
            <a:pPr algn="l"/>
            <a:r>
              <a:rPr sz="2600" b="1">
                <a:solidFill>
                  <a:srgbClr val="FFFFFF"/>
                </a:solidFill>
                <a:latin typeface="Calibri"/>
              </a:rPr>
              <a:t>Thank You / Q&amp;A</a:t>
            </a:r>
          </a:p>
        </p:txBody>
      </p:sp>
      <p:sp>
        <p:nvSpPr>
          <p:cNvPr id="4" name="TextBox 3"/>
          <p:cNvSpPr txBox="1"/>
          <p:nvPr/>
        </p:nvSpPr>
        <p:spPr>
          <a:xfrm>
            <a:off x="11338560" y="6446520"/>
            <a:ext cx="731520" cy="365760"/>
          </a:xfrm>
          <a:prstGeom prst="rect">
            <a:avLst/>
          </a:prstGeom>
          <a:noFill/>
        </p:spPr>
        <p:txBody>
          <a:bodyPr wrap="square">
            <a:spAutoFit/>
          </a:bodyPr>
          <a:lstStyle/>
          <a:p>
            <a:pPr algn="r"/>
            <a:r>
              <a:rPr sz="1400" b="0">
                <a:solidFill>
                  <a:srgbClr val="555555"/>
                </a:solidFill>
                <a:latin typeface="Calibri"/>
              </a:rPr>
              <a:t>14</a:t>
            </a:r>
          </a:p>
        </p:txBody>
      </p:sp>
      <p:sp>
        <p:nvSpPr>
          <p:cNvPr id="5" name="TextBox 4"/>
          <p:cNvSpPr txBox="1"/>
          <p:nvPr/>
        </p:nvSpPr>
        <p:spPr>
          <a:xfrm>
            <a:off x="502920" y="1051560"/>
            <a:ext cx="11155680" cy="1371600"/>
          </a:xfrm>
          <a:prstGeom prst="rect">
            <a:avLst/>
          </a:prstGeom>
          <a:noFill/>
        </p:spPr>
        <p:txBody>
          <a:bodyPr wrap="square">
            <a:spAutoFit/>
          </a:bodyPr>
          <a:lstStyle/>
          <a:p>
            <a:pPr algn="l"/>
            <a:r>
              <a:rPr sz="3000" b="1">
                <a:solidFill>
                  <a:srgbClr val="1A1A1A"/>
                </a:solidFill>
                <a:latin typeface="Calibri"/>
              </a:rPr>
              <a:t>Thank You 🙏</a:t>
            </a:r>
          </a:p>
        </p:txBody>
      </p:sp>
      <p:sp>
        <p:nvSpPr>
          <p:cNvPr id="6" name="TextBox 5"/>
          <p:cNvSpPr txBox="1"/>
          <p:nvPr/>
        </p:nvSpPr>
        <p:spPr>
          <a:xfrm>
            <a:off x="502920" y="1554480"/>
            <a:ext cx="11155680" cy="1371600"/>
          </a:xfrm>
          <a:prstGeom prst="rect">
            <a:avLst/>
          </a:prstGeom>
          <a:noFill/>
        </p:spPr>
        <p:txBody>
          <a:bodyPr wrap="square">
            <a:spAutoFit/>
          </a:bodyPr>
          <a:lstStyle/>
          <a:p>
            <a:pPr algn="l"/>
            <a:r>
              <a:rPr sz="1800" b="1">
                <a:solidFill>
                  <a:srgbClr val="1A1A1A"/>
                </a:solidFill>
                <a:latin typeface="Calibri"/>
              </a:rPr>
              <a:t>Questions &amp; Discussion</a:t>
            </a:r>
          </a:p>
        </p:txBody>
      </p:sp>
      <p:sp>
        <p:nvSpPr>
          <p:cNvPr id="7" name="TextBox 6"/>
          <p:cNvSpPr txBox="1"/>
          <p:nvPr/>
        </p:nvSpPr>
        <p:spPr>
          <a:xfrm>
            <a:off x="502920" y="1938528"/>
            <a:ext cx="11155680" cy="1371600"/>
          </a:xfrm>
          <a:prstGeom prst="rect">
            <a:avLst/>
          </a:prstGeom>
          <a:noFill/>
        </p:spPr>
        <p:txBody>
          <a:bodyPr wrap="square">
            <a:spAutoFit/>
          </a:bodyPr>
          <a:lstStyle/>
          <a:p>
            <a:pPr algn="l"/>
            <a:r>
              <a:rPr sz="1600" b="0">
                <a:solidFill>
                  <a:srgbClr val="1A1A1A"/>
                </a:solidFill>
                <a:latin typeface="Calibri"/>
              </a:rPr>
              <a:t>**Contact / Demo:**</a:t>
            </a:r>
          </a:p>
        </p:txBody>
      </p:sp>
      <p:sp>
        <p:nvSpPr>
          <p:cNvPr id="8" name="TextBox 7"/>
          <p:cNvSpPr txBox="1"/>
          <p:nvPr/>
        </p:nvSpPr>
        <p:spPr>
          <a:xfrm>
            <a:off x="502920" y="2395728"/>
            <a:ext cx="11155680" cy="1371600"/>
          </a:xfrm>
          <a:prstGeom prst="rect">
            <a:avLst/>
          </a:prstGeom>
          <a:noFill/>
        </p:spPr>
        <p:txBody>
          <a:bodyPr wrap="square">
            <a:spAutoFit/>
          </a:bodyPr>
          <a:lstStyle/>
          <a:p>
            <a:pPr algn="l"/>
            <a:r>
              <a:rPr sz="1600" b="0">
                <a:solidFill>
                  <a:srgbClr val="1A1A1A"/>
                </a:solidFill>
                <a:latin typeface="Calibri"/>
              </a:rPr>
              <a:t>- Local app: `http://127.0.0.1:5000`</a:t>
            </a:r>
          </a:p>
        </p:txBody>
      </p:sp>
      <p:sp>
        <p:nvSpPr>
          <p:cNvPr id="9" name="TextBox 8"/>
          <p:cNvSpPr txBox="1"/>
          <p:nvPr/>
        </p:nvSpPr>
        <p:spPr>
          <a:xfrm>
            <a:off x="502920" y="2852928"/>
            <a:ext cx="11155680" cy="1371600"/>
          </a:xfrm>
          <a:prstGeom prst="rect">
            <a:avLst/>
          </a:prstGeom>
          <a:noFill/>
        </p:spPr>
        <p:txBody>
          <a:bodyPr wrap="square">
            <a:spAutoFit/>
          </a:bodyPr>
          <a:lstStyle/>
          <a:p>
            <a:pPr algn="l"/>
            <a:r>
              <a:rPr sz="1600" b="0">
                <a:solidFill>
                  <a:srgbClr val="1A1A1A"/>
                </a:solidFill>
                <a:latin typeface="Calibri"/>
              </a:rPr>
              <a:t>- Admin login: `admin@carsos.com` / `admin123`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1425</Words>
  <Application>Microsoft Office PowerPoint</Application>
  <PresentationFormat>Custom</PresentationFormat>
  <Paragraphs>125</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Dell_User</cp:lastModifiedBy>
  <cp:revision>2</cp:revision>
  <dcterms:created xsi:type="dcterms:W3CDTF">2013-01-27T09:14:16Z</dcterms:created>
  <dcterms:modified xsi:type="dcterms:W3CDTF">2026-08-29T13:26:56Z</dcterms:modified>
  <cp:category/>
</cp:coreProperties>
</file>